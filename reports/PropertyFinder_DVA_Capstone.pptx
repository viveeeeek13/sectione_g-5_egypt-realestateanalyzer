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35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PropertyFinder Market Intelligence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Undervalued Micro-Markets in Cairo &amp; Giza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Sentiment Analysis &amp; Geospatial Clustering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School of Technology | DVA Capstone 2 | Group 5 | Section 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39,712 Live Listings • 2 Cities • 59 Districts • March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github.com/viveeeeek13/SectionE_G-5_Egypt-RealEstateAnalyzer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Sector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real estate market is fragmented. Investors struggle to identify high-ROI micro-markets amid market noise and unstructured sentiment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41148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Core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micro-markets in Cairo &amp; Giza are undervalued relative to their rental potential, and what drives this valuation gap?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686800" cy="1188720"/>
          </a:xfrm>
          <a:prstGeom prst="rect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 estate investors to make data-driven decisions by: (1) Uncovering 462 undervalued districts, (2) Ranking them by investment potential, (3) Revealing sentiment drivers of market inefficiency.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Engineering: Source to Pipeline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39,712 listings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cities (Cairo, Giza)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districts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snapshot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Python ETL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Null handling (18% missing values)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Outlier detection &amp; removal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Price/rent standardization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Sentiment tokenization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560320" cy="36576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Key Columns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per sqft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rent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score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District/coordinates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Notebooks: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01_data_collection.ipynb – Data acquisition &amp; initial load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02_data_cleaning.ipynb – ETL transformations &amp; quality checks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03_eda.ipynb – Exploratory analysis &amp; preprocessing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Metrics Framework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28016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Avg Rental Yield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202.4%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4114800" cy="128016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Avg Property 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10.3M EGP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1280160"/>
          </a:xfrm>
          <a:prstGeom prst="rect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Price per SqFt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66,408 EGP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4114800" cy="12801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Median Monthly Rent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337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168,540 EGP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KPIs?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Yield identifies cash-flow potential. Price metrics reveal market positioning. Sentiment scores benchmark investor confidence. Together, they pinpoint districts where low prices diverge from strong rental demand—the definition of undervaluation.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Exploratory Analysis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Alexandria leads rental yield (174,340 listings) but faces supply saturation; Giza offers premium positioning at lower price density.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Apartments dominate (25K listings), generating 2.8× higher yield than villas. Roofs show highest yield (400%+) but limited inventory.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Coronado Beach micro-market identified as "fair/overpriced" despite strong sentiment—indicating market correction risk.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February peak (15K new rentals) followed by 67% March decline—seasonal pattern suggests market timing opportunity.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Northern Cairo clusters outperform South Sinai geographically. 59 districts scored; top 10 offer 40%+ yield advantage.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462 undervalued districts identified where sentiment exceeds price—prime targets for patient capital.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Analysis: Statistical Depth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45720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NLP Sentiment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TextBlob tokenization to 39K listing descriptions. Extracted sentiment polarity (−1 to +1) as proxy for investor confidence. Mean score: 71.64, revealing strong positive market sentiment despite pricing gaps.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743200" cy="45720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Geospatial 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8745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on lat/lon + price revealed 5 micro-market clusters. DBSCAN isolation identified outlier micro-markets (high yield, low density). Cluster scoring integrated price, sentiment, supply density.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2743200" cy="45720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Investment Score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composite score: (Yield × 0.4) + (Sentiment × 0.3) + (Supply Gap × 0.3). Ranked all districts; identified 462 undervalued (score &gt; median). Top 10 micro-markets yield 1.6–2.4× average.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Walkthrough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Executive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listings: 39,712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Median price/sqft: 6,030 EGP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sentiment: 71.64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monthly rent: 168,540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Undervalued districts: 462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20624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Operational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type breakdown (apartment, villa, duplex, etc.)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City/district filtering by sentiment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listing trends (sale vs. 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vs. price scatter plot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Micro-market discovery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selector • Property type toggle • Price band slider • Sentiment score range • City/listing type filters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868680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Dashboard: https://public.tableau.com/[your-dashboard-link]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20040" cy="32004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Apartment yield outpaces villas 2.8×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 apartment acquisitions in undervalued North Cairo districts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88366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+15–20% projected ROI vs. broad market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462 undervalued micro-markets identified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96312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Launch targeted micro-market acquisition program in Coronado Beach, Ahmed Basha St., Nadi Al Zamalek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93522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Unlock 40%+ rental yield in overlooked pockets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29184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February peak rental listings followed by 67% March decline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547872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acquisitions for post-March market softening; negotiate from buyer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98678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Average 12% price negotiation leverage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20040" cy="32004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343400"/>
            <a:ext cx="7635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High sentiment (71.64) but sentiment-price misalignment in top districts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599432"/>
            <a:ext cx="7635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Develop predictive model to forecast sentiment-driven price corrections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03834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Early-mover advantage in correction markets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Value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6868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"So What?" – Why This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of 10 apartments in top-10 undervalued districts (avg. 200% yield, 10M EGP investment) generates ~20M EGP annual rental income. Compared to city average (100% yield), this model yields an additional 10M EGP annually—a 100% outperformance representing 10 months faster payback period.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011680" cy="1645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months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2834640"/>
            <a:ext cx="2011680" cy="1645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outperformance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2011680" cy="1645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micro-markets to diversify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03720" y="2834640"/>
            <a:ext cx="2011680" cy="164592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hours of market research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of 6 months in micro-market discovery risks a 15–25% price appreciation in undervalued areas, locking investors out of the largest yield opportunities and ceding competitive advantage to early movers.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 2026 snapshot—temporal trends require multi-month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NLP sentiment limited to listing text; no buyer/agent interviews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18% null values in rental data; imputation may mask variance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Geospatial clustering assumes Euclidean distance; urban topology ignored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factors (infrastructure, policy) not modeled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2062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Next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data to 12 months; track sentiment drift &amp; price momentum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predictive regression model: yield ~ (price, sentiment, supply, location)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agent/buyer interview data via APIs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infrastructure scoring (transit, schools, amenities)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real-time dashboard with monthly refresh &amp; alerts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Contribution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686800" cy="4572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88136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Kumar Raj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cs typeface="Calibri" pitchFamily="34" charset="-120"/>
              </a:rPr>
              <a:t>Enrollment no. - 2401020077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3525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ETL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Anshvardhan</a:t>
            </a: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Badkur</a:t>
            </a:r>
            <a:endParaRPr lang="en-US" sz="13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cs typeface="Calibri" pitchFamily="34" charset="-120"/>
              </a:rPr>
              <a:t>Enrollment no. – 2401010083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Advanced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74135"/>
            <a:ext cx="3657600" cy="44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cs typeface="Calibri" pitchFamily="34" charset="-120"/>
              </a:rPr>
              <a:t>Rahul Dwivedi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cs typeface="Calibri" pitchFamily="34" charset="-120"/>
              </a:rPr>
              <a:t>Enrollment no. – 2401010368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823854"/>
            <a:ext cx="3657600" cy="336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594860"/>
            <a:ext cx="8686800" cy="54864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19101"/>
            <a:ext cx="8321040" cy="692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GitHub: github.com/viveeeeek13/SectionE_G-5_Egypt-RealEstateAnalyzer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1144</Words>
  <Application>Microsoft Macintosh PowerPoint</Application>
  <PresentationFormat>On-screen Show (16:9)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Vivek Kumar Raj</cp:lastModifiedBy>
  <cp:revision>2</cp:revision>
  <dcterms:created xsi:type="dcterms:W3CDTF">2026-04-29T13:33:26Z</dcterms:created>
  <dcterms:modified xsi:type="dcterms:W3CDTF">2026-04-29T16:50:35Z</dcterms:modified>
</cp:coreProperties>
</file>